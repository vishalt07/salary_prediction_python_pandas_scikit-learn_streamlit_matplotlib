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7" r:id="rId1"/>
  </p:sldMasterIdLst>
  <p:notesMasterIdLst>
    <p:notesMasterId r:id="rId11"/>
  </p:notesMasterIdLst>
  <p:sldIdLst>
    <p:sldId id="257" r:id="rId2"/>
    <p:sldId id="256" r:id="rId3"/>
    <p:sldId id="281" r:id="rId4"/>
    <p:sldId id="282" r:id="rId5"/>
    <p:sldId id="258" r:id="rId6"/>
    <p:sldId id="284" r:id="rId7"/>
    <p:sldId id="285" r:id="rId8"/>
    <p:sldId id="286" r:id="rId9"/>
    <p:sldId id="28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A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Tiwari" userId="b561fce54aec17bb" providerId="LiveId" clId="{92518BED-2D1B-44B4-B05D-A2535BB8E2E5}"/>
    <pc:docChg chg="modSld">
      <pc:chgData name="Vishal Tiwari" userId="b561fce54aec17bb" providerId="LiveId" clId="{92518BED-2D1B-44B4-B05D-A2535BB8E2E5}" dt="2025-11-06T16:34:43.954" v="32" actId="20577"/>
      <pc:docMkLst>
        <pc:docMk/>
      </pc:docMkLst>
      <pc:sldChg chg="modSp mod">
        <pc:chgData name="Vishal Tiwari" userId="b561fce54aec17bb" providerId="LiveId" clId="{92518BED-2D1B-44B4-B05D-A2535BB8E2E5}" dt="2025-11-06T16:34:43.954" v="32" actId="20577"/>
        <pc:sldMkLst>
          <pc:docMk/>
          <pc:sldMk cId="2783499322" sldId="257"/>
        </pc:sldMkLst>
        <pc:spChg chg="mod">
          <ac:chgData name="Vishal Tiwari" userId="b561fce54aec17bb" providerId="LiveId" clId="{92518BED-2D1B-44B4-B05D-A2535BB8E2E5}" dt="2025-11-06T16:34:43.954" v="32" actId="20577"/>
          <ac:spMkLst>
            <pc:docMk/>
            <pc:sldMk cId="2783499322" sldId="257"/>
            <ac:spMk id="3" creationId="{A8C0CC59-CF73-B3C1-373A-15973C5B5F2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9E637-8A5E-4170-93EE-CFBA1810D9B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A6DE8-8DF3-4E2C-A408-466998124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151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C717-44CB-48AC-AC58-E7B8B37456A8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12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0FF79-BB89-4C60-A6D1-79E592AB3F45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790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FEE8-67FC-4F7E-84FA-3073E27AA83B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95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BCF3-3347-439E-8763-753442B93191}" type="datetime1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400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E4AE9-ABD5-4ECF-A441-DC77688CBDE3}" type="datetime1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316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FDA6-A9C7-49DE-9B5D-23B60290D943}" type="datetime1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1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4CB7-3BB6-45F0-9E90-A8939CABEA37}" type="datetime1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74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9294-AF16-4AEA-91FA-314EEBD85CC5}" type="datetime1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348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47BA-6AC2-4BA0-9FFD-D08CF519E72E}" type="datetime1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80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619F-58D2-41EB-B113-AF67A5D83EE4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20532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619F-58D2-41EB-B113-AF67A5D83EE4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730302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619F-58D2-41EB-B113-AF67A5D83EE4}" type="datetime1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521711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619F-58D2-41EB-B113-AF67A5D83EE4}" type="datetime1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9139288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619F-58D2-41EB-B113-AF67A5D83EE4}" type="datetime1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995124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25477-11D9-4256-835B-E4EF6973FDF6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96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A7F4-0C9A-428F-B76C-068AF2169EB9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70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A619F-58D2-41EB-B113-AF67A5D83EE4}" type="datetime1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DataBase Managament System                                                                                         Pallavi Shukla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F441D84-F219-4239-8489-C73372F917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14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0" r:id="rId13"/>
    <p:sldLayoutId id="2147483851" r:id="rId14"/>
    <p:sldLayoutId id="2147483852" r:id="rId15"/>
    <p:sldLayoutId id="2147483853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python.org/3/library/tkinter.html" TargetMode="External"/><Relationship Id="rId4" Type="http://schemas.openxmlformats.org/officeDocument/2006/relationships/hyperlink" Target="https://pandas.pydata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D4736-512A-FC68-17B0-276219E00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8047" y="3338623"/>
            <a:ext cx="10139915" cy="1095597"/>
          </a:xfrm>
        </p:spPr>
        <p:txBody>
          <a:bodyPr>
            <a:normAutofit fontScale="90000"/>
          </a:bodyPr>
          <a:lstStyle/>
          <a:p>
            <a:br>
              <a:rPr lang="en-IN" sz="4900" b="1" dirty="0">
                <a:solidFill>
                  <a:schemeClr val="tx1"/>
                </a:solidFill>
              </a:rPr>
            </a:br>
            <a:br>
              <a:rPr lang="en-IN" sz="4900" b="1" dirty="0">
                <a:solidFill>
                  <a:schemeClr val="tx1"/>
                </a:solidFill>
              </a:rPr>
            </a:br>
            <a:br>
              <a:rPr lang="en-IN" sz="6000" b="1" dirty="0">
                <a:solidFill>
                  <a:schemeClr val="tx1"/>
                </a:solidFill>
              </a:rPr>
            </a:br>
            <a:r>
              <a:rPr lang="en-US" sz="4400" b="1" i="1" dirty="0">
                <a:solidFill>
                  <a:schemeClr val="accent1"/>
                </a:solidFill>
              </a:rPr>
              <a:t>PERSONAL  PORTFOLIO </a:t>
            </a:r>
            <a:br>
              <a:rPr lang="en-US" sz="4400" b="1" i="1" dirty="0">
                <a:solidFill>
                  <a:schemeClr val="accent1"/>
                </a:solidFill>
              </a:rPr>
            </a:br>
            <a:r>
              <a:rPr lang="en-US" sz="4400" b="1" i="1" dirty="0">
                <a:solidFill>
                  <a:schemeClr val="accent1"/>
                </a:solidFill>
              </a:rPr>
              <a:t>            WEBSITE</a:t>
            </a:r>
            <a:br>
              <a:rPr lang="en-IN" sz="3600" b="1" dirty="0">
                <a:solidFill>
                  <a:schemeClr val="tx1"/>
                </a:solidFill>
              </a:rPr>
            </a:br>
            <a:r>
              <a:rPr lang="en-IN" sz="3600" b="1" dirty="0">
                <a:solidFill>
                  <a:schemeClr val="tx1"/>
                </a:solidFill>
              </a:rPr>
              <a:t>              </a:t>
            </a:r>
            <a:br>
              <a:rPr lang="en-IN" sz="3600" b="1" dirty="0">
                <a:solidFill>
                  <a:schemeClr val="tx1"/>
                </a:solidFill>
              </a:rPr>
            </a:br>
            <a:r>
              <a:rPr lang="en-IN" sz="3600" b="1" dirty="0">
                <a:solidFill>
                  <a:schemeClr val="tx2"/>
                </a:solidFill>
              </a:rPr>
              <a:t>              at</a:t>
            </a:r>
            <a:br>
              <a:rPr lang="en-IN" sz="4900" b="1" dirty="0">
                <a:solidFill>
                  <a:schemeClr val="tx1"/>
                </a:solidFill>
              </a:rPr>
            </a:br>
            <a:br>
              <a:rPr lang="en-IN" b="1" dirty="0">
                <a:solidFill>
                  <a:schemeClr val="tx1"/>
                </a:solidFill>
              </a:rPr>
            </a:br>
            <a:r>
              <a:rPr lang="en-IN" sz="4000" b="1" dirty="0">
                <a:solidFill>
                  <a:srgbClr val="0070C0"/>
                </a:solidFill>
              </a:rPr>
              <a:t>UNITED COLLEGE OF ENGINEERING AND RESEARCH </a:t>
            </a:r>
            <a:endParaRPr lang="en-IN" sz="3600" b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0CC59-CF73-B3C1-373A-15973C5B5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8047" y="5549752"/>
            <a:ext cx="10345479" cy="1095598"/>
          </a:xfrm>
        </p:spPr>
        <p:txBody>
          <a:bodyPr>
            <a:normAutofit lnSpcReduction="10000"/>
          </a:bodyPr>
          <a:lstStyle/>
          <a:p>
            <a:pPr algn="r"/>
            <a:r>
              <a:rPr lang="en-IN" b="1" dirty="0"/>
              <a:t>                                                                              NAME : VISHAL TIWARI</a:t>
            </a:r>
          </a:p>
          <a:p>
            <a:pPr algn="r"/>
            <a:r>
              <a:rPr lang="en-IN" b="1" dirty="0"/>
              <a:t>UNIVERSITY ROLL NO</a:t>
            </a:r>
            <a:r>
              <a:rPr lang="en-IN" b="1"/>
              <a:t>:2200100100390 </a:t>
            </a:r>
            <a:endParaRPr lang="en-IN" b="1" dirty="0"/>
          </a:p>
          <a:p>
            <a:pPr algn="r"/>
            <a:r>
              <a:rPr lang="en-IN" b="1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97C90F-BEEF-5C95-85CD-71C213E28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074" y="595306"/>
            <a:ext cx="3644444" cy="101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99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38056-610E-3525-95BF-2CD45284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985" y="648529"/>
            <a:ext cx="10515600" cy="1095507"/>
          </a:xfrm>
        </p:spPr>
        <p:txBody>
          <a:bodyPr>
            <a:normAutofit/>
          </a:bodyPr>
          <a:lstStyle/>
          <a:p>
            <a:r>
              <a:rPr lang="en-IN" sz="48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Topics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A5FED-E3F0-199C-3B7F-01B0034BD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2985" y="1509823"/>
            <a:ext cx="10030395" cy="4973278"/>
          </a:xfrm>
        </p:spPr>
        <p:txBody>
          <a:bodyPr>
            <a:normAutofit/>
          </a:bodyPr>
          <a:lstStyle/>
          <a:p>
            <a:endParaRPr lang="en-IN" sz="28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tx1"/>
                </a:solidFill>
              </a:rPr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tx1"/>
                </a:solidFill>
              </a:rPr>
              <a:t>METHODOLOGY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tx1"/>
                </a:solidFill>
              </a:rPr>
              <a:t>ER DIAGRAM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tx1"/>
                </a:solidFill>
              </a:rPr>
              <a:t>SNAPSHOTS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tx1"/>
                </a:solidFill>
              </a:rPr>
              <a:t>LIMITATIONS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tx1"/>
                </a:solidFill>
              </a:rPr>
              <a:t>REFERENCES</a:t>
            </a:r>
          </a:p>
          <a:p>
            <a:endParaRPr lang="en-I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28170-91D6-CBF4-845D-B7CE1961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47B3D-2A4A-F559-A145-D2F6B96A9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847" y="286193"/>
            <a:ext cx="1253756" cy="1266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42274F-C11E-9777-17DC-4DF62C0DF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624" y="243663"/>
            <a:ext cx="1253756" cy="12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6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0172-AFAB-B12F-DF0B-C1ADDD1DA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127" y="624110"/>
            <a:ext cx="9569486" cy="1280890"/>
          </a:xfrm>
        </p:spPr>
        <p:txBody>
          <a:bodyPr>
            <a:normAutofit/>
          </a:bodyPr>
          <a:lstStyle/>
          <a:p>
            <a:r>
              <a:rPr lang="en-IN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Introduction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68707-20EC-A929-2B67-C153589A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EF00FC-EFFB-4D7E-D6AE-EA554566F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624" y="243663"/>
            <a:ext cx="1253756" cy="126616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8295CB-5F1A-2088-1246-16D46A954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44" y="1890270"/>
            <a:ext cx="9479167" cy="4020951"/>
          </a:xfrm>
        </p:spPr>
        <p:txBody>
          <a:bodyPr>
            <a:normAutofit fontScale="40000" lnSpcReduction="20000"/>
          </a:bodyPr>
          <a:lstStyle/>
          <a:p>
            <a:pPr marL="0" marR="32385" indent="0">
              <a:lnSpc>
                <a:spcPct val="103000"/>
              </a:lnSpc>
              <a:spcAft>
                <a:spcPts val="800"/>
              </a:spcAft>
              <a:buNone/>
            </a:pPr>
            <a:endParaRPr lang="en-IN" sz="8000" dirty="0">
              <a:solidFill>
                <a:schemeClr val="tx1"/>
              </a:solidFill>
            </a:endParaRPr>
          </a:p>
          <a:p>
            <a:pPr marR="32385">
              <a:lnSpc>
                <a:spcPct val="103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8000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Salary prediction is a crucial task for job seekers, HR professionals and Organizations.</a:t>
            </a:r>
            <a:endParaRPr lang="en-IN" sz="80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32385">
              <a:lnSpc>
                <a:spcPct val="103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8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This project applies </a:t>
            </a:r>
            <a:r>
              <a:rPr lang="en-US" sz="8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Machine Learning models to predict salaries based on various factors includes.</a:t>
            </a:r>
          </a:p>
          <a:p>
            <a:pPr marR="32385">
              <a:lnSpc>
                <a:spcPct val="103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8000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Factors include Education, Experience, Job role, Industry, Location, Company Size, and more….</a:t>
            </a:r>
            <a:endParaRPr lang="en-IN" sz="80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32385" lvl="0" indent="0">
              <a:lnSpc>
                <a:spcPct val="103000"/>
              </a:lnSpc>
              <a:buNone/>
            </a:pPr>
            <a:endParaRPr lang="en-IN" sz="80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2612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60C8-91D9-60F5-80E1-5E8E68021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9105" y="624110"/>
            <a:ext cx="9725508" cy="1280890"/>
          </a:xfrm>
        </p:spPr>
        <p:txBody>
          <a:bodyPr>
            <a:normAutofit/>
          </a:bodyPr>
          <a:lstStyle/>
          <a:p>
            <a:r>
              <a:rPr lang="en-IN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C36BD-E206-B673-EC26-1CC23928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4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412E8B-6E4F-52C4-14A6-177DA5F67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624" y="243663"/>
            <a:ext cx="1253756" cy="126616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A740DD-0CA7-3907-9F3A-9DEEEC3BB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7961" y="1509823"/>
            <a:ext cx="9626651" cy="510451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 Calibri"/>
              </a:rPr>
              <a:t>Data Collection:</a:t>
            </a:r>
            <a:br>
              <a:rPr lang="en-IN" sz="2000" dirty="0">
                <a:latin typeface=" Calibri"/>
              </a:rPr>
            </a:br>
            <a:r>
              <a:rPr lang="en-IN" sz="2000" dirty="0">
                <a:latin typeface=" Calibri"/>
              </a:rPr>
              <a:t>Used </a:t>
            </a:r>
            <a:r>
              <a:rPr lang="en-IN" sz="2000" i="1" dirty="0">
                <a:latin typeface=" Calibri"/>
              </a:rPr>
              <a:t>salary_train.csv</a:t>
            </a:r>
            <a:r>
              <a:rPr lang="en-IN" sz="2000" dirty="0">
                <a:latin typeface=" Calibri"/>
              </a:rPr>
              <a:t> with features — Education, Experience, Job Title, Industry, Location, and Salary.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 Calibri"/>
              </a:rPr>
              <a:t>Preprocessing:</a:t>
            </a:r>
            <a:br>
              <a:rPr lang="en-IN" sz="2000" dirty="0">
                <a:latin typeface=" Calibri"/>
              </a:rPr>
            </a:br>
            <a:r>
              <a:rPr lang="en-IN" sz="2000" dirty="0">
                <a:latin typeface=" Calibri"/>
              </a:rPr>
              <a:t>Handled missing values (</a:t>
            </a:r>
            <a:r>
              <a:rPr lang="en-IN" sz="2000" i="1" dirty="0" err="1">
                <a:latin typeface=" Calibri"/>
              </a:rPr>
              <a:t>SimpleImputer</a:t>
            </a:r>
            <a:r>
              <a:rPr lang="en-IN" sz="2000" dirty="0">
                <a:latin typeface=" Calibri"/>
              </a:rPr>
              <a:t>), scaled </a:t>
            </a:r>
            <a:r>
              <a:rPr lang="en-IN" sz="2000" dirty="0" err="1">
                <a:latin typeface=" Calibri"/>
              </a:rPr>
              <a:t>numericals</a:t>
            </a:r>
            <a:r>
              <a:rPr lang="en-IN" sz="2000" dirty="0">
                <a:latin typeface=" Calibri"/>
              </a:rPr>
              <a:t> (</a:t>
            </a:r>
            <a:r>
              <a:rPr lang="en-IN" sz="2000" i="1" dirty="0">
                <a:latin typeface=" Calibri"/>
              </a:rPr>
              <a:t>StandardScaler</a:t>
            </a:r>
            <a:r>
              <a:rPr lang="en-IN" sz="2000" dirty="0">
                <a:latin typeface=" Calibri"/>
              </a:rPr>
              <a:t>), encoded </a:t>
            </a:r>
            <a:r>
              <a:rPr lang="en-IN" sz="2000" dirty="0" err="1">
                <a:latin typeface=" Calibri"/>
              </a:rPr>
              <a:t>categoricals</a:t>
            </a:r>
            <a:r>
              <a:rPr lang="en-IN" sz="2000" dirty="0">
                <a:latin typeface=" Calibri"/>
              </a:rPr>
              <a:t> (</a:t>
            </a:r>
            <a:r>
              <a:rPr lang="en-IN" sz="2000" i="1" dirty="0" err="1">
                <a:latin typeface=" Calibri"/>
              </a:rPr>
              <a:t>OneHotEncoder</a:t>
            </a:r>
            <a:r>
              <a:rPr lang="en-IN" sz="2000" dirty="0">
                <a:latin typeface=" Calibri"/>
              </a:rPr>
              <a:t>), and merged using </a:t>
            </a:r>
            <a:r>
              <a:rPr lang="en-IN" sz="2000" i="1" dirty="0">
                <a:latin typeface=" Calibri"/>
              </a:rPr>
              <a:t>ColumnTransformer + Pipeline</a:t>
            </a:r>
            <a:r>
              <a:rPr lang="en-IN" sz="2000" dirty="0">
                <a:latin typeface=" Calibri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 Calibri"/>
              </a:rPr>
              <a:t>Model Development:</a:t>
            </a:r>
            <a:br>
              <a:rPr lang="en-IN" sz="2000" dirty="0">
                <a:latin typeface=" Calibri"/>
              </a:rPr>
            </a:br>
            <a:r>
              <a:rPr lang="en-IN" sz="2000" dirty="0">
                <a:latin typeface=" Calibri"/>
              </a:rPr>
              <a:t>Trained </a:t>
            </a:r>
            <a:r>
              <a:rPr lang="en-IN" sz="2000" b="1" dirty="0">
                <a:latin typeface=" Calibri"/>
              </a:rPr>
              <a:t>Random Forest</a:t>
            </a:r>
            <a:r>
              <a:rPr lang="en-IN" sz="2000" dirty="0">
                <a:latin typeface=" Calibri"/>
              </a:rPr>
              <a:t> and </a:t>
            </a:r>
            <a:r>
              <a:rPr lang="en-IN" sz="2000" b="1" dirty="0">
                <a:latin typeface=" Calibri"/>
              </a:rPr>
              <a:t>Gradient Boosting</a:t>
            </a:r>
            <a:r>
              <a:rPr lang="en-IN" sz="2000" dirty="0">
                <a:latin typeface=" Calibri"/>
              </a:rPr>
              <a:t> models; combined via </a:t>
            </a:r>
            <a:r>
              <a:rPr lang="en-IN" sz="2000" b="1" dirty="0">
                <a:latin typeface=" Calibri"/>
              </a:rPr>
              <a:t>Voting Regressor</a:t>
            </a:r>
            <a:r>
              <a:rPr lang="en-IN" sz="2000" dirty="0">
                <a:latin typeface=" Calibri"/>
              </a:rPr>
              <a:t> for better accuracy.</a:t>
            </a:r>
            <a:br>
              <a:rPr lang="en-IN" sz="2000" dirty="0">
                <a:latin typeface=" Calibri"/>
              </a:rPr>
            </a:br>
            <a:r>
              <a:rPr lang="en-IN" sz="2000" dirty="0">
                <a:latin typeface=" Calibri"/>
              </a:rPr>
              <a:t>Data split — </a:t>
            </a:r>
            <a:r>
              <a:rPr lang="en-IN" sz="2000" b="1" dirty="0">
                <a:latin typeface=" Calibri"/>
              </a:rPr>
              <a:t>80% train / 20% test</a:t>
            </a:r>
            <a:r>
              <a:rPr lang="en-IN" sz="2000" dirty="0">
                <a:latin typeface=" Calibri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 Calibri"/>
              </a:rPr>
              <a:t>Evaluation:</a:t>
            </a:r>
            <a:br>
              <a:rPr lang="en-IN" sz="2000" dirty="0">
                <a:latin typeface=" Calibri"/>
              </a:rPr>
            </a:br>
            <a:r>
              <a:rPr lang="en-IN" sz="2000" b="1" dirty="0">
                <a:latin typeface=" Calibri"/>
              </a:rPr>
              <a:t>MAE:</a:t>
            </a:r>
            <a:r>
              <a:rPr lang="en-IN" sz="2000" dirty="0">
                <a:latin typeface=" Calibri"/>
              </a:rPr>
              <a:t> ₹6,436.73 | </a:t>
            </a:r>
            <a:r>
              <a:rPr lang="en-IN" sz="2000" b="1" dirty="0">
                <a:latin typeface=" Calibri"/>
              </a:rPr>
              <a:t>R²:</a:t>
            </a:r>
            <a:r>
              <a:rPr lang="en-IN" sz="2000" dirty="0">
                <a:latin typeface=" Calibri"/>
              </a:rPr>
              <a:t> 0.6991 (~70% accuracy).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 Calibri"/>
              </a:rPr>
              <a:t>GUI Integration:</a:t>
            </a:r>
            <a:br>
              <a:rPr lang="en-IN" sz="2000" dirty="0">
                <a:latin typeface=" Calibri"/>
              </a:rPr>
            </a:br>
            <a:r>
              <a:rPr lang="en-IN" sz="2000" dirty="0">
                <a:latin typeface=" Calibri"/>
              </a:rPr>
              <a:t>Built </a:t>
            </a:r>
            <a:r>
              <a:rPr lang="en-IN" sz="2000" b="1" dirty="0" err="1">
                <a:latin typeface=" Calibri"/>
              </a:rPr>
              <a:t>Tkinter</a:t>
            </a:r>
            <a:r>
              <a:rPr lang="en-IN" sz="2000" b="1" dirty="0">
                <a:latin typeface=" Calibri"/>
              </a:rPr>
              <a:t> desktop app</a:t>
            </a:r>
            <a:r>
              <a:rPr lang="en-IN" sz="2000" dirty="0">
                <a:latin typeface=" Calibri"/>
              </a:rPr>
              <a:t> for instant salary prediction; model saved as </a:t>
            </a:r>
            <a:r>
              <a:rPr lang="en-IN" sz="2000" b="1" dirty="0">
                <a:latin typeface=" Calibri"/>
              </a:rPr>
              <a:t>Pickle (.</a:t>
            </a:r>
            <a:r>
              <a:rPr lang="en-IN" sz="2000" b="1" dirty="0" err="1">
                <a:latin typeface=" Calibri"/>
              </a:rPr>
              <a:t>pkl</a:t>
            </a:r>
            <a:r>
              <a:rPr lang="en-IN" sz="2000" b="1" dirty="0">
                <a:latin typeface=" Calibri"/>
              </a:rPr>
              <a:t>)</a:t>
            </a:r>
            <a:r>
              <a:rPr lang="en-IN" sz="2000" dirty="0">
                <a:latin typeface=" Calibri"/>
              </a:rPr>
              <a:t> for reuse</a:t>
            </a:r>
          </a:p>
          <a:p>
            <a:endParaRPr lang="en-IN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7251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3FDD-5CA9-0D22-019C-AC7937FE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023" y="624110"/>
            <a:ext cx="9537589" cy="1280890"/>
          </a:xfrm>
        </p:spPr>
        <p:txBody>
          <a:bodyPr>
            <a:normAutofit/>
          </a:bodyPr>
          <a:lstStyle/>
          <a:p>
            <a:r>
              <a:rPr lang="en-IN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ER Diagram/ DFD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94A4E-2400-82AD-0C94-506F14C63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3006" y="3215148"/>
            <a:ext cx="6991606" cy="26960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701C7-A930-70C7-4C8D-C46C70D39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5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10A4EB-9E15-8149-3353-BC190EA7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847" y="286193"/>
            <a:ext cx="1253756" cy="1266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FA92F8-40E4-A6BF-57C8-871DC2DF9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45" y="1809136"/>
            <a:ext cx="5525729" cy="44247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F68315-96E6-C2A5-DA48-F7A6ECA65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974" y="1809136"/>
            <a:ext cx="5053781" cy="44247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4BED91-5A10-E75A-E69E-1019CC4C4FE1}"/>
              </a:ext>
            </a:extLst>
          </p:cNvPr>
          <p:cNvSpPr txBox="1"/>
          <p:nvPr/>
        </p:nvSpPr>
        <p:spPr>
          <a:xfrm>
            <a:off x="1967023" y="5911222"/>
            <a:ext cx="228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           </a:t>
            </a:r>
            <a:r>
              <a:rPr lang="en-IN" b="1" i="1" u="sng" dirty="0"/>
              <a:t>LEVEL-0 DFD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4A81A8-9F11-305C-C948-2DB60248C1CB}"/>
              </a:ext>
            </a:extLst>
          </p:cNvPr>
          <p:cNvSpPr txBox="1"/>
          <p:nvPr/>
        </p:nvSpPr>
        <p:spPr>
          <a:xfrm>
            <a:off x="8219872" y="5911222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/>
              <a:t>LEVEL-1 DFD</a:t>
            </a:r>
          </a:p>
        </p:txBody>
      </p:sp>
    </p:spTree>
    <p:extLst>
      <p:ext uri="{BB962C8B-B14F-4D97-AF65-F5344CB8AC3E}">
        <p14:creationId xmlns:p14="http://schemas.microsoft.com/office/powerpoint/2010/main" val="3141416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3FDD-5CA9-0D22-019C-AC7937FE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023" y="624110"/>
            <a:ext cx="9537589" cy="1280890"/>
          </a:xfrm>
        </p:spPr>
        <p:txBody>
          <a:bodyPr>
            <a:normAutofit/>
          </a:bodyPr>
          <a:lstStyle/>
          <a:p>
            <a:r>
              <a:rPr lang="en-IN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Results / Snapshots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701C7-A930-70C7-4C8D-C46C70D39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10A4EB-9E15-8149-3353-BC190EA7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847" y="286193"/>
            <a:ext cx="1253756" cy="126616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AFE6EF-0DA3-7A16-53AB-8EE7D0B9C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023" y="2133599"/>
            <a:ext cx="7197071" cy="401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86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3FDD-5CA9-0D22-019C-AC7937FE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023" y="624110"/>
            <a:ext cx="9537589" cy="1280890"/>
          </a:xfrm>
        </p:spPr>
        <p:txBody>
          <a:bodyPr>
            <a:normAutofit/>
          </a:bodyPr>
          <a:lstStyle/>
          <a:p>
            <a:r>
              <a:rPr lang="en-IN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94A4E-2400-82AD-0C94-506F14C63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644" y="1798955"/>
            <a:ext cx="10356714" cy="38528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701C7-A930-70C7-4C8D-C46C70D39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7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10A4EB-9E15-8149-3353-BC190EA7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847" y="286193"/>
            <a:ext cx="1253756" cy="126616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386B167-4F7B-C418-5AC8-8FFBB7E43A9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11579" y="3218004"/>
            <a:ext cx="934993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EFBB44B-3BD7-A41D-9398-4B8386F2241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86774" y="1901435"/>
            <a:ext cx="961092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model’s accuracy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≈ 0.69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depends on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and size of the training dataset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Outdated or biased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lead to unrealistic salary predictions.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feature coverage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some factors like company reputation, job performance, and negotiation skills are not included.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desktop-based; not accessible through web or mobile platforms.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performance may vary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unseen job roles or rare combinations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inputs.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approximate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should not be used for real salary decisions without further validation</a:t>
            </a:r>
          </a:p>
        </p:txBody>
      </p:sp>
    </p:spTree>
    <p:extLst>
      <p:ext uri="{BB962C8B-B14F-4D97-AF65-F5344CB8AC3E}">
        <p14:creationId xmlns:p14="http://schemas.microsoft.com/office/powerpoint/2010/main" val="3645002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3FDD-5CA9-0D22-019C-AC7937FE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023" y="624110"/>
            <a:ext cx="9537589" cy="1280890"/>
          </a:xfrm>
        </p:spPr>
        <p:txBody>
          <a:bodyPr>
            <a:normAutofit/>
          </a:bodyPr>
          <a:lstStyle/>
          <a:p>
            <a:r>
              <a:rPr lang="en-IN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Future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94A4E-2400-82AD-0C94-506F14C63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5247" y="2133600"/>
            <a:ext cx="9399365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701C7-A930-70C7-4C8D-C46C70D39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8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10A4EB-9E15-8149-3353-BC190EA7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847" y="286193"/>
            <a:ext cx="1253756" cy="126616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39D926D-41E9-C001-486D-6516E0E02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858" y="1984410"/>
            <a:ext cx="1033077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advanced ML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CatBoost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 Networks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prediction accuracy.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web or mobile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version using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wider accessibility.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live data APIs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LinkedIn, Glassdoor) for up-to-date salary insights.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more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company reputation, skills, performance ratings, and location cost index.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visualization dashboards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show salary trends, distributions, and insights.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dataset size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real-world salary data from multiple industries for better generalization.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on cloud platforms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(AWS, Google Cloud, or Azure) for scalability and real-time use</a:t>
            </a:r>
          </a:p>
        </p:txBody>
      </p:sp>
    </p:spTree>
    <p:extLst>
      <p:ext uri="{BB962C8B-B14F-4D97-AF65-F5344CB8AC3E}">
        <p14:creationId xmlns:p14="http://schemas.microsoft.com/office/powerpoint/2010/main" val="1746885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3FDD-5CA9-0D22-019C-AC7937FE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023" y="624110"/>
            <a:ext cx="9537589" cy="1280890"/>
          </a:xfrm>
        </p:spPr>
        <p:txBody>
          <a:bodyPr>
            <a:normAutofit/>
          </a:bodyPr>
          <a:lstStyle/>
          <a:p>
            <a:r>
              <a:rPr lang="en-IN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701C7-A930-70C7-4C8D-C46C70D39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1D84-F219-4239-8489-C73372F917E5}" type="slidenum">
              <a:rPr lang="en-IN" smtClean="0"/>
              <a:t>9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10A4EB-9E15-8149-3353-BC190EA7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847" y="286193"/>
            <a:ext cx="1253756" cy="126616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2DD3D29-49D8-287E-745C-D93F68E222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1170" y="2291691"/>
            <a:ext cx="953758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Scikit-Learn Documentation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—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  <a:hlinkClick r:id="rId3"/>
              </a:rPr>
              <a:t>https://scikit-learn.org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e 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e 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Pandas Library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—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  <a:hlinkClick r:id="rId4"/>
              </a:rPr>
              <a:t>https://pandas.pydata.org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e 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e 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Tkinter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 GUI Documentation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—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  <a:hlinkClick r:id="rId5"/>
              </a:rPr>
              <a:t>https://docs.python.org/3/library/tkinter.html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e 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e 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Dataset Source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—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Custom/Academic salary dataset (salary_train.csv)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e 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Ensemble Learning Techniques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— Research papers and tutorials on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Random Forest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,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Gradient Boosting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, and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Voting Regressor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e 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e "/>
              </a:rPr>
              <a:t>Medium &amp; Kaggle Articles on Salary Prediction and ML Regression Projects</a:t>
            </a:r>
          </a:p>
        </p:txBody>
      </p:sp>
    </p:spTree>
    <p:extLst>
      <p:ext uri="{BB962C8B-B14F-4D97-AF65-F5344CB8AC3E}">
        <p14:creationId xmlns:p14="http://schemas.microsoft.com/office/powerpoint/2010/main" val="3927787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1253</TotalTime>
  <Words>526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 Calibri</vt:lpstr>
      <vt:lpstr>Arial</vt:lpstr>
      <vt:lpstr>Calibre </vt:lpstr>
      <vt:lpstr>Calibri</vt:lpstr>
      <vt:lpstr>Century Gothic</vt:lpstr>
      <vt:lpstr>Wingdings</vt:lpstr>
      <vt:lpstr>Wingdings 3</vt:lpstr>
      <vt:lpstr>Wisp</vt:lpstr>
      <vt:lpstr>   PERSONAL  PORTFOLIO              WEBSITE                              at  UNITED COLLEGE OF ENGINEERING AND RESEARCH </vt:lpstr>
      <vt:lpstr>Topics Covered</vt:lpstr>
      <vt:lpstr>Introduction</vt:lpstr>
      <vt:lpstr>Methodology</vt:lpstr>
      <vt:lpstr>ER Diagram/ DFD </vt:lpstr>
      <vt:lpstr>Results / Snapshots</vt:lpstr>
      <vt:lpstr>Limitations </vt:lpstr>
      <vt:lpstr>Future Scope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Suyash</dc:creator>
  <cp:lastModifiedBy>Vishal Tiwari</cp:lastModifiedBy>
  <cp:revision>37</cp:revision>
  <dcterms:created xsi:type="dcterms:W3CDTF">2022-07-16T04:50:36Z</dcterms:created>
  <dcterms:modified xsi:type="dcterms:W3CDTF">2025-11-06T16:34:46Z</dcterms:modified>
</cp:coreProperties>
</file>